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583680" cy="6583680"/>
          </a:xfrm>
          <a:prstGeom prst="ellipse">
            <a:avLst/>
          </a:prstGeom>
          <a:solidFill>
            <a:srgbClr val="303F9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480560"/>
            <a:ext cx="5486400" cy="5486400"/>
          </a:xfrm>
          <a:prstGeom prst="ellipse">
            <a:avLst/>
          </a:prstGeom>
          <a:solidFill>
            <a:srgbClr val="303F9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868680"/>
            <a:ext cx="960120" cy="960120"/>
          </a:xfrm>
          <a:prstGeom prst="ellipse">
            <a:avLst/>
          </a:prstGeom>
          <a:solidFill>
            <a:srgbClr val="FF6F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871" y="111831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103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FINE-TUNING · SESSION 2 · 10:45 – 12:45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9808" y="2606040"/>
            <a:ext cx="10789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Hugging Face &amp; the Amharic Problem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77240" y="443484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model, find a dataset, and prove — with evidence — that the model is bad at Amharic before you try to fix it.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5897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Defense University · Day 4 of 5 · 2 hours · 4 hands-on labs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Session Covers — and What You Walk Away With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4F5FC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5C6BC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8681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373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cover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377440"/>
            <a:ext cx="4892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search the Hugging Face Hub for models and datasets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tokenizer is, and why Amharic costs 3x more tokens than English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load and inspect a real 83,000-example Amharic dataset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must test the model BEFORE fine-tuning, not after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format raw conversations into training examples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99632" y="15087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1A237E"/>
          </a:solidFill>
          <a:ln/>
        </p:spPr>
      </p:sp>
      <p:sp>
        <p:nvSpPr>
          <p:cNvPr id="10" name="Shape 7"/>
          <p:cNvSpPr/>
          <p:nvPr/>
        </p:nvSpPr>
        <p:spPr>
          <a:xfrm>
            <a:off x="6428232" y="1737360"/>
            <a:ext cx="502920" cy="502920"/>
          </a:xfrm>
          <a:prstGeom prst="ellipse">
            <a:avLst/>
          </a:prstGeom>
          <a:solidFill>
            <a:srgbClr val="FF6F0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991" y="186811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68312" y="17373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19672" y="2377440"/>
            <a:ext cx="4892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Hub and read a model card critically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how many tokens Amharic uses versus English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addisai/FineTome Amharic and inspect its structure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baseline answers to five Amharic questions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dataset into text the model can learn from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VOCABULARY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Words You Need This Session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4F5FC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73352"/>
            <a:ext cx="457200" cy="457200"/>
          </a:xfrm>
          <a:prstGeom prst="ellipse">
            <a:avLst/>
          </a:prstGeom>
          <a:solidFill>
            <a:srgbClr val="5C6BC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79222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55064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Hub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2221992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GitHub of AI. Over a million models and hundreds of thousands of datasets, mostly free.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31208" y="1508760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4F5FC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95800" y="1673352"/>
            <a:ext cx="457200" cy="457200"/>
          </a:xfrm>
          <a:prstGeom prst="ellipse">
            <a:avLst/>
          </a:prstGeom>
          <a:solidFill>
            <a:srgbClr val="5C6BC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672" y="179222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62728" y="1655064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32376" y="2221992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text into pieces the model understands. Each model has its own — they are not interchangeable.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13776" y="1508760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4F5FC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78368" y="1673352"/>
            <a:ext cx="457200" cy="457200"/>
          </a:xfrm>
          <a:prstGeom prst="ellipse">
            <a:avLst/>
          </a:prstGeom>
          <a:solidFill>
            <a:srgbClr val="5C6BC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240" y="1792224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45296" y="1655064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14944" y="2221992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examples you train on. Today: 83,000 Amharic conversations.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128516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4F5FC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13232" y="4293108"/>
            <a:ext cx="457200" cy="457200"/>
          </a:xfrm>
          <a:prstGeom prst="ellipse">
            <a:avLst/>
          </a:prstGeom>
          <a:solidFill>
            <a:srgbClr val="5C6B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441198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4274820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card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9808" y="4841748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documentation page. Says what data it saw, its licence, and where it fails.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31208" y="4128516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4F5FC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95800" y="4293108"/>
            <a:ext cx="457200" cy="457200"/>
          </a:xfrm>
          <a:prstGeom prst="ellipse">
            <a:avLst/>
          </a:prstGeom>
          <a:solidFill>
            <a:srgbClr val="FF6F0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4672" y="4411980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62728" y="4274820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32376" y="4841748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 performs BEFORE you change anything. Skip this and you can prove nothing.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13776" y="4128516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4F5FC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78368" y="4293108"/>
            <a:ext cx="457200" cy="457200"/>
          </a:xfrm>
          <a:prstGeom prst="ellipse">
            <a:avLst/>
          </a:prstGeom>
          <a:solidFill>
            <a:srgbClr val="5C6BC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7240" y="4411980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45296" y="4274820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format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14944" y="4841748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Rewriting raw data as 'question then answer' so the model learns to respond.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THE TOKENIZER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Amharic Costs Three Times More</a:t>
            </a:r>
            <a:endParaRPr lang="en-US" sz="3100" dirty="0"/>
          </a:p>
        </p:txBody>
      </p:sp>
      <p:pic>
        <p:nvPicPr>
          <p:cNvPr id="4" name="Image 0" descr="tokeniz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417320"/>
            <a:ext cx="868680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2120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Qwen's tokenizer was trained mostly on English and Chinese. Ge'ez script gets chopped into many small pieces.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58064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6F00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58064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in practice: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sentence costs 3x more memory, 3x more time, and hits the length limit 3x sooner.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HANDS-ON (25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2A: Measure It Yourself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766560" cy="3657600"/>
          </a:xfrm>
          <a:prstGeom prst="roundRect">
            <a:avLst>
              <a:gd name="adj" fmla="val 1500"/>
            </a:avLst>
          </a:prstGeom>
          <a:solidFill>
            <a:srgbClr val="F1F3F8"/>
          </a:solidFill>
          <a:ln w="12700">
            <a:solidFill>
              <a:srgbClr val="D5DA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09928"/>
            <a:ext cx="640080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transformers import AutoTokenizer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 = AutoTokenizer.from_pretrained("Qwen/Qwen2-0.5B-Instruct")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= "How can I track my order?"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 = "ትዕዛዜን እንዴት ልከታተለው እችላለሁ?"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print("English:", len(tok.encode(en)), "tokens")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print("Amharic:", len(tok.encode(am)), "tokens")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Look at HOW it splits the Amharic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print(tok.tokenize(am))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98080" y="1600200"/>
            <a:ext cx="4142232" cy="3657600"/>
          </a:xfrm>
          <a:prstGeom prst="roundRect">
            <a:avLst>
              <a:gd name="adj" fmla="val 2500"/>
            </a:avLst>
          </a:prstGeom>
          <a:solidFill>
            <a:srgbClr val="F4F5FC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0" y="224028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Amharic uses far more tokens for the same meaning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tokens are single characters or fragments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show as broken bytes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fairness problem, not just a technical one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A237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5486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every Amharic query costs 3x an English one, who pays for that — and what does it mean for local AI?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HANDS-ON (30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2B: The Baseline — Do This FIRST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F6F0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73352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4" y="1827886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5087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fine-tune first and test afterwards, you have no proof anything improved. Record the baseline NOW.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91672" cy="2834640"/>
          </a:xfrm>
          <a:prstGeom prst="roundRect">
            <a:avLst>
              <a:gd name="adj" fmla="val 1935"/>
            </a:avLst>
          </a:prstGeom>
          <a:solidFill>
            <a:srgbClr val="F1F3F8"/>
          </a:solidFill>
          <a:ln w="12700">
            <a:solidFill>
              <a:srgbClr val="D5DA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2761488"/>
            <a:ext cx="10725912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 = [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"ስለ ምርታችሁ ዋጋ ማወቅ እፈልጋለሁ።",       # pricing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"ትዕዛዜን እንዴት ልከታተለው እችላለሁ?",      # order tracking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"ምርቱን መመለስ ከፈለኩ ምን ማድረግ አለብኝ?",  # returns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= {}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q in QUESTIONS: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before[q] = ask(model, q)     # save every answer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print(q, '-&gt;', before[q][:120])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C62828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623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'before' dictionary alive all day.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compares against it. If your session restarts, you must re-run this cell.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HANDS-ON (35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2C: Load a Real Amharic Dataset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583680" cy="3017520"/>
          </a:xfrm>
          <a:prstGeom prst="roundRect">
            <a:avLst>
              <a:gd name="adj" fmla="val 1818"/>
            </a:avLst>
          </a:prstGeom>
          <a:solidFill>
            <a:srgbClr val="F1F3F8"/>
          </a:solidFill>
          <a:ln w="12700">
            <a:solidFill>
              <a:srgbClr val="D5DA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09928"/>
            <a:ext cx="621792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datasets import load_dataset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= load_dataset("addisai/FineTome-single-turn-dedup-amharic",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split="train")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print(f"{len(raw):,} examples")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print(raw.column_names)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Always LOOK at your data before training on it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print(raw[0])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0" y="1600200"/>
            <a:ext cx="4325112" cy="3017520"/>
          </a:xfrm>
          <a:prstGeom prst="roundRect">
            <a:avLst>
              <a:gd name="adj" fmla="val 3030"/>
            </a:avLst>
          </a:prstGeom>
          <a:solidFill>
            <a:srgbClr val="F4F5FC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1783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83,000 examples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89520" y="2286000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Amharic conversations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Ethiopian researchers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download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use only 1,000 today so training finishes inside the lesson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8920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A237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8920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that will save you months: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ten real examples before you train on 83,000. Bad data trains bad models, silently.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dataset exists because people chose to build it. Amharic AI is not going to arrive by accident.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HANDS-ON (25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2D: Shape the Data for Training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does not learn from a table. It learns from text that shows a question followed by a good answer.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1672" cy="3291840"/>
          </a:xfrm>
          <a:prstGeom prst="roundRect">
            <a:avLst>
              <a:gd name="adj" fmla="val 1667"/>
            </a:avLst>
          </a:prstGeom>
          <a:solidFill>
            <a:srgbClr val="F1F3F8"/>
          </a:solidFill>
          <a:ln w="12700">
            <a:solidFill>
              <a:srgbClr val="D5DA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75688"/>
            <a:ext cx="10725912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to_text(ex):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turns = ex.get("conversations_amharic") or []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len(turns) &lt; 2: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{"text": ""}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question = turns[0].get("content", "")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answer   = turns[1].get("content", "")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{"text": f"### ጥያቄ:\n{question}\n\n### መልስ:\n{answer}{tok.eos_token}"}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raw.select(range(1000)).map(to_text, remove_columns=raw.column_names)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data.filter(lambda x: len(x["text"]) &gt; 40)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print(data[0]['text'][:300])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6F0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5440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eos_token matters.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tells the model where the answer STOPS. Leave it out and your model rambles forever.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CHECKPOINT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Lunch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746504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62763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searched the Hugging Face Hub and read a model card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40080" y="2340864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459736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234086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measured Amharic vs English token counts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40080" y="3054096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172968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98448" y="305409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recorded baseline answers and saved them in a variable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640080" y="3767328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886200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98448" y="376732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loaded the 83,000-example Amharic dataset</a:t>
            </a:r>
            <a:endParaRPr lang="en-US" sz="1550" dirty="0"/>
          </a:p>
        </p:txBody>
      </p:sp>
      <p:sp>
        <p:nvSpPr>
          <p:cNvPr id="16" name="Shape 10"/>
          <p:cNvSpPr/>
          <p:nvPr/>
        </p:nvSpPr>
        <p:spPr>
          <a:xfrm>
            <a:off x="640080" y="448056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4599432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98448" y="4480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looked at real examples before training on them</a:t>
            </a:r>
            <a:endParaRPr lang="en-US" sz="1550" dirty="0"/>
          </a:p>
        </p:txBody>
      </p:sp>
      <p:sp>
        <p:nvSpPr>
          <p:cNvPr id="19" name="Shape 12"/>
          <p:cNvSpPr/>
          <p:nvPr/>
        </p:nvSpPr>
        <p:spPr>
          <a:xfrm>
            <a:off x="640080" y="519379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5312664"/>
            <a:ext cx="219456" cy="2194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98448" y="519379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formatted 1,000 examples into question/answer text</a:t>
            </a:r>
            <a:endParaRPr lang="en-US" sz="1550" dirty="0"/>
          </a:p>
        </p:txBody>
      </p:sp>
      <p:sp>
        <p:nvSpPr>
          <p:cNvPr id="22" name="Text 14"/>
          <p:cNvSpPr/>
          <p:nvPr/>
        </p:nvSpPr>
        <p:spPr>
          <a:xfrm>
            <a:off x="548640" y="629107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 answers are the most important thing you have. Do not lose them.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94560"/>
            <a:ext cx="6217920" cy="6217920"/>
          </a:xfrm>
          <a:prstGeom prst="ellipse">
            <a:avLst/>
          </a:prstGeom>
          <a:solidFill>
            <a:srgbClr val="303F9F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64008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— THREE IDEAS TO CARRY FORWARD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128016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03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783080" y="13533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Tokenizers are not neutral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783080" y="1792224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Amharic costs 3x English on this model. That is a design choice someone made, and it has a real cost.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03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783080" y="261518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before you build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83080" y="3054096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'before', your 'after' proves nothing. This is the discipline that separates engineering from guessing.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3803904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03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1783080" y="387705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your data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83080" y="431596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real examples read carefully will teach you more than 83,000 rows you never opened.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77240" y="5257800"/>
            <a:ext cx="10607040" cy="1051560"/>
          </a:xfrm>
          <a:prstGeom prst="roundRect">
            <a:avLst>
              <a:gd name="adj" fmla="val 8696"/>
            </a:avLst>
          </a:prstGeom>
          <a:solidFill>
            <a:srgbClr val="303F9F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525780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Session 3 (13:45):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LoRA. The trick that makes fine-tuning fit in 2 GB — then you actually train the model.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2026-07-23T01:48:01Z</dcterms:created>
  <dcterms:modified xsi:type="dcterms:W3CDTF">2026-07-23T01:48:01Z</dcterms:modified>
</cp:coreProperties>
</file>