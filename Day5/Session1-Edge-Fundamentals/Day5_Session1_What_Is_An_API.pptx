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583680" cy="6583680"/>
          </a:xfrm>
          <a:prstGeom prst="ellipse">
            <a:avLst/>
          </a:prstGeom>
          <a:solidFill>
            <a:srgbClr val="0E4C5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480560"/>
            <a:ext cx="5486400" cy="5486400"/>
          </a:xfrm>
          <a:prstGeom prst="ellipse">
            <a:avLst/>
          </a:prstGeom>
          <a:solidFill>
            <a:srgbClr val="0E4C5C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68680"/>
            <a:ext cx="960120" cy="9601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" y="11183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03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WORKING WITH APIs · SESSION 1 · 09:00 – 10:30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" y="260604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API — and Your First Call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77240" y="44348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you ran a model on your own GPU. Today you borrow somebody else's — a far bigger one — for free, in five minutes.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5897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Defense University · Day 5 of 5 · 1.5 hours · Google Colab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 — and What You Walk Away With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1F8F7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4DB6A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cover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API actually is, in plain language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would rent a model instead of running your own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a free Gemini API key with no credit card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keep that key secret — the most important habit today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your first successful API call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083344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1737360"/>
            <a:ext cx="502920" cy="5029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991" y="18681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737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9672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an API to somebody who has never programmed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own API key from Google AI Studio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it safely using Colab Secrets, never in your code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prompt and get a real answer back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when an API beats a self-hosted model, and when it does not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Words for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38728" cy="2372868"/>
          </a:xfrm>
          <a:prstGeom prst="roundRect">
            <a:avLst>
              <a:gd name="adj" fmla="val 3083"/>
            </a:avLst>
          </a:prstGeom>
          <a:solidFill>
            <a:srgbClr val="F1F8F7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609344"/>
            <a:ext cx="420624" cy="420624"/>
          </a:xfrm>
          <a:prstGeom prst="ellipse">
            <a:avLst/>
          </a:prstGeom>
          <a:solidFill>
            <a:srgbClr val="4DB6A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306" y="1718706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5296" y="1591056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121408"/>
            <a:ext cx="3172968" cy="1568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Programming Interface. A way for your code to ask somebody else's program to do something.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463040"/>
            <a:ext cx="3538728" cy="2372868"/>
          </a:xfrm>
          <a:prstGeom prst="roundRect">
            <a:avLst>
              <a:gd name="adj" fmla="val 3083"/>
            </a:avLst>
          </a:prstGeom>
          <a:solidFill>
            <a:srgbClr val="F1F8F7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71416" y="1609344"/>
            <a:ext cx="420624" cy="420624"/>
          </a:xfrm>
          <a:prstGeom prst="ellipse">
            <a:avLst/>
          </a:prstGeom>
          <a:solidFill>
            <a:srgbClr val="C6282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778" y="1718706"/>
            <a:ext cx="201900" cy="201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01768" y="1591056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07992" y="2121408"/>
            <a:ext cx="3172968" cy="1568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password to that service. It identifies you and bills you. Treat it like a bank PIN.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01584" y="1463040"/>
            <a:ext cx="3538728" cy="2372868"/>
          </a:xfrm>
          <a:prstGeom prst="roundRect">
            <a:avLst>
              <a:gd name="adj" fmla="val 3083"/>
            </a:avLst>
          </a:prstGeom>
          <a:solidFill>
            <a:srgbClr val="F1F8F7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47888" y="1609344"/>
            <a:ext cx="420624" cy="420624"/>
          </a:xfrm>
          <a:prstGeom prst="ellipse">
            <a:avLst/>
          </a:prstGeom>
          <a:solidFill>
            <a:srgbClr val="4DB6A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250" y="1718706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78240" y="1591056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84464" y="2121408"/>
            <a:ext cx="3172968" cy="1568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address your request goes to. For Gemini it is a Google server.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073652"/>
            <a:ext cx="3538728" cy="2372868"/>
          </a:xfrm>
          <a:prstGeom prst="roundRect">
            <a:avLst>
              <a:gd name="adj" fmla="val 3083"/>
            </a:avLst>
          </a:prstGeom>
          <a:solidFill>
            <a:srgbClr val="F1F8F7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4944" y="4219956"/>
            <a:ext cx="420624" cy="420624"/>
          </a:xfrm>
          <a:prstGeom prst="ellipse">
            <a:avLst/>
          </a:prstGeom>
          <a:solidFill>
            <a:srgbClr val="4DB6A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306" y="4329318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25296" y="4201668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31520" y="4732020"/>
            <a:ext cx="3172968" cy="1568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that hides the messy HTTP details so calling AI looks like calling a normal function.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25112" y="4073652"/>
            <a:ext cx="3538728" cy="2372868"/>
          </a:xfrm>
          <a:prstGeom prst="roundRect">
            <a:avLst>
              <a:gd name="adj" fmla="val 3083"/>
            </a:avLst>
          </a:prstGeom>
          <a:solidFill>
            <a:srgbClr val="F1F8F7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71416" y="4219956"/>
            <a:ext cx="420624" cy="420624"/>
          </a:xfrm>
          <a:prstGeom prst="ellipse">
            <a:avLst/>
          </a:prstGeom>
          <a:solidFill>
            <a:srgbClr val="4DB6A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0778" y="4329318"/>
            <a:ext cx="201900" cy="201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01768" y="4201668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07992" y="4732020"/>
            <a:ext cx="3172968" cy="1568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chunk of text, as on Day 4. APIs charge and rate-limit by tokens, not by words.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01584" y="4073652"/>
            <a:ext cx="3538728" cy="2372868"/>
          </a:xfrm>
          <a:prstGeom prst="roundRect">
            <a:avLst>
              <a:gd name="adj" fmla="val 3083"/>
            </a:avLst>
          </a:prstGeom>
          <a:solidFill>
            <a:srgbClr val="F1F8F7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47888" y="4219956"/>
            <a:ext cx="420624" cy="420624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7250" y="4329318"/>
            <a:ext cx="201900" cy="2019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78240" y="4201668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84464" y="4732020"/>
            <a:ext cx="3172968" cy="1568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requests you may send per minute and per day. Free tiers have strict ones.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Happens When You Call an API</a:t>
            </a:r>
            <a:endParaRPr lang="en-US" sz="3000" dirty="0"/>
          </a:p>
        </p:txBody>
      </p:sp>
      <p:pic>
        <p:nvPicPr>
          <p:cNvPr id="4" name="Image 0" descr="api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105156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7784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083344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577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installed on your machine.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 sends a sentence and receives a sentence. All the computing happens in a Google data centre.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TWO WAYS TO GET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Yesterday vs Today</a:t>
            </a:r>
            <a:endParaRPr lang="en-US" sz="3000" dirty="0"/>
          </a:p>
        </p:txBody>
      </p:sp>
      <p:pic>
        <p:nvPicPr>
          <p:cNvPr id="4" name="Image 0" descr="build_vs_bu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463040"/>
            <a:ext cx="978408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608076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083344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6080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the winner.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serious organisation uses both — API for reach and capability, self-hosted for offline, private and cheap-at-scale.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HANDS-ON (20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1A: Get Your Free API Key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55648"/>
            <a:ext cx="365760" cy="365760"/>
          </a:xfrm>
          <a:prstGeom prst="ellipse">
            <a:avLst/>
          </a:prstGeom>
          <a:solidFill>
            <a:srgbClr val="EF6C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627632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 aistudio.google.com/apikey  and sign in with any Google account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65760" cy="365760"/>
          </a:xfrm>
          <a:prstGeom prst="ellipse">
            <a:avLst/>
          </a:prstGeom>
          <a:solidFill>
            <a:srgbClr val="EF6C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386584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 Create API key  (no credit card is asked for)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273552"/>
            <a:ext cx="365760" cy="365760"/>
          </a:xfrm>
          <a:prstGeom prst="ellipse">
            <a:avLst/>
          </a:prstGeom>
          <a:solidFill>
            <a:srgbClr val="EF6C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145536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or create a project when prompted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32504"/>
            <a:ext cx="365760" cy="365760"/>
          </a:xfrm>
          <a:prstGeom prst="ellipse">
            <a:avLst/>
          </a:prstGeom>
          <a:solidFill>
            <a:srgbClr val="EF6C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904488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key. It looks like  AIzaSy...  and is shown clearly only once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791456"/>
            <a:ext cx="365760" cy="365760"/>
          </a:xfrm>
          <a:prstGeom prst="ellipse">
            <a:avLst/>
          </a:prstGeom>
          <a:solidFill>
            <a:srgbClr val="EF6C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91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66344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it somewhere private for the next five minutes — not in a chat group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39496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tier, no card required.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and model names change often — the current numbers are always at ai.google.dev/gemini-api/docs/rate-limits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2636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account cannot create a key, pair with a classmate. One key is enough for two people today.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Key Is a Password. Treat It Like One.</a:t>
            </a:r>
            <a:endParaRPr lang="en-US" sz="3000" dirty="0"/>
          </a:p>
        </p:txBody>
      </p:sp>
      <p:pic>
        <p:nvPicPr>
          <p:cNvPr id="4" name="Image 0" descr="key_safe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54480"/>
            <a:ext cx="1014984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07492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C62828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5349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5515661"/>
            <a:ext cx="307238" cy="3072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512064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scan GitHub for leaked API keys automatically, within minutes of a commit. A leaked key gets used by strangers — and if billing is enabled, you pay for it.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HANDS-ON (15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1B: Store the Key Safely in Colab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00784"/>
            <a:ext cx="365760" cy="365760"/>
          </a:xfrm>
          <a:prstGeom prst="ellipse">
            <a:avLst/>
          </a:prstGeom>
          <a:solidFill>
            <a:srgbClr val="EF6C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6002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Colab, click the  key icon  in the left sidebar (Secrets)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365760" cy="365760"/>
          </a:xfrm>
          <a:prstGeom prst="ellipse">
            <a:avLst/>
          </a:prstGeom>
          <a:solidFill>
            <a:srgbClr val="EF6C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3042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 Add new secret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EF6C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00837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GEMINI_API_KEY   — spelled exactly like that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13048"/>
            <a:ext cx="365760" cy="365760"/>
          </a:xfrm>
          <a:prstGeom prst="ellipse">
            <a:avLst/>
          </a:prstGeom>
          <a:solidFill>
            <a:srgbClr val="EF6C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71246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paste your key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17136"/>
            <a:ext cx="365760" cy="365760"/>
          </a:xfrm>
          <a:prstGeom prst="ellipse">
            <a:avLst/>
          </a:prstGeom>
          <a:solidFill>
            <a:srgbClr val="EF6C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41655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 Notebook access  for this notebook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1600200"/>
            <a:ext cx="5120640" cy="2468880"/>
          </a:xfrm>
          <a:prstGeom prst="roundRect">
            <a:avLst>
              <a:gd name="adj" fmla="val 2222"/>
            </a:avLst>
          </a:prstGeom>
          <a:solidFill>
            <a:srgbClr val="F2F5F6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1700784"/>
            <a:ext cx="4791456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google.colab import userdata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os.environ["GEMINI_API_KEY"] = \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userdata.get("GEMINI_API_KEY")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print("key loaded:",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len(os.environ["GEMINI_API_KEY"]), "chars")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42062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1F8F7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43434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now lives in Colab's secret store, not in your notebook — so you can share the notebook safely.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EF6C00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7607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key appears anywhere in a cell you can read, it is in the wrong place.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HANDS-ON (25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1C: Your First API Call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766560" cy="3291840"/>
          </a:xfrm>
          <a:prstGeom prst="roundRect">
            <a:avLst>
              <a:gd name="adj" fmla="val 1667"/>
            </a:avLst>
          </a:prstGeom>
          <a:solidFill>
            <a:srgbClr val="F2F5F6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55064"/>
            <a:ext cx="6437376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-q -U google-genai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 import genai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genai.Client()      # reads GEMINI_API_KEY automatically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client.models.generate_content(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model="gemini-3.5-flash",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contents="Explain what an API is, in two sentences, for a beginner."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print(response.text)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498080" y="1554480"/>
            <a:ext cx="4142232" cy="3291840"/>
          </a:xfrm>
          <a:prstGeom prst="roundRect">
            <a:avLst>
              <a:gd name="adj" fmla="val 2778"/>
            </a:avLst>
          </a:prstGeom>
          <a:solidFill>
            <a:srgbClr val="F1F8F7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 that matter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0" y="219456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— who you are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which brain to use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 — what you are asking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response.text — the answer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502920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5029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whole thing.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GPU, no download, no 13 GB model. You just used a system far larger than anything that fits on a T4.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names change. The notebook includes a cell that LISTS the models your key can actually use.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CHECKPOINT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Break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46504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6276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created a Gemini API key at aistudio.google.com/apikey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34086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45973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34086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stored it in Colab Secrets, NOT in a code cell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17296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30540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loaded it with userdata.get()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40080" y="376732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886200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98448" y="37673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installed google-genai and created a Client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599432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98448" y="4480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sent a prompt and printed a real answer</a:t>
            </a:r>
            <a:endParaRPr lang="en-US" sz="1550" dirty="0"/>
          </a:p>
        </p:txBody>
      </p:sp>
      <p:sp>
        <p:nvSpPr>
          <p:cNvPr id="19" name="Shape 12"/>
          <p:cNvSpPr/>
          <p:nvPr/>
        </p:nvSpPr>
        <p:spPr>
          <a:xfrm>
            <a:off x="640080" y="519379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312664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98448" y="51937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why a key must never go into GitHub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548640" y="62910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key is visible anywhere in your notebook, fix that now before we go further.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3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6217920" cy="6217920"/>
          </a:xfrm>
          <a:prstGeom prst="ellipse">
            <a:avLst/>
          </a:prstGeom>
          <a:solidFill>
            <a:srgbClr val="0E4C5C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— THREE IDEAS TO CARRY FORWARD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783080" y="13533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is renting, not owning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83080" y="179222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a sentence, you get a sentence. Someone else buys the GPUs and keeps the model updated.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783080" y="26151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IS the account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83080" y="305409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holding it can spend on your behalf. Secrets store, never source code, never a screenshot.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803904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783080" y="38770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minutes to working AI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83080" y="43159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took a day to fine-tune 0.5B. Today you reached a far larger model before the first break.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525780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0E4C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2578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Session 2 (10:45):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the model: system instructions, streaming, multi-turn chat, JSON output, and staying inside the free quota.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2026-07-24T07:17:36Z</dcterms:created>
  <dcterms:modified xsi:type="dcterms:W3CDTF">2026-07-24T07:17:36Z</dcterms:modified>
</cp:coreProperties>
</file>